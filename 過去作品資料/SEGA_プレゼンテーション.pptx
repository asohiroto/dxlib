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60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90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75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359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942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553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82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819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03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14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29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404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8167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736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536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4496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9715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843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3B57D-8F72-4EF8-81A9-94CD1750F572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3B65E-8801-45B0-A67C-B6DEFE04F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1897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E3A549-A748-336E-4A99-80C0796B966A}"/>
              </a:ext>
            </a:extLst>
          </p:cNvPr>
          <p:cNvSpPr txBox="1"/>
          <p:nvPr/>
        </p:nvSpPr>
        <p:spPr>
          <a:xfrm>
            <a:off x="455179" y="556871"/>
            <a:ext cx="49654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highlight>
                  <a:srgbClr val="FFFF00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作品名 ： 攻めろ！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F48746-E433-EF3A-A17A-B0A1BDE563B1}"/>
              </a:ext>
            </a:extLst>
          </p:cNvPr>
          <p:cNvSpPr txBox="1"/>
          <p:nvPr/>
        </p:nvSpPr>
        <p:spPr>
          <a:xfrm>
            <a:off x="989309" y="1194694"/>
            <a:ext cx="5240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 ジャンル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 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：　２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D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ターン制ストラテジー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0D6278-19D6-F71D-9B02-239166012F4F}"/>
              </a:ext>
            </a:extLst>
          </p:cNvPr>
          <p:cNvSpPr txBox="1"/>
          <p:nvPr/>
        </p:nvSpPr>
        <p:spPr>
          <a:xfrm>
            <a:off x="989310" y="1648203"/>
            <a:ext cx="6395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開発期間　：　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2026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年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6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月　～　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7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月　（合計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1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ヶ月）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480E93-A33F-4C39-A979-EA963B1D6D18}"/>
              </a:ext>
            </a:extLst>
          </p:cNvPr>
          <p:cNvSpPr txBox="1"/>
          <p:nvPr/>
        </p:nvSpPr>
        <p:spPr>
          <a:xfrm>
            <a:off x="989309" y="2101712"/>
            <a:ext cx="6607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開発環境　：　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Visual Studio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 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2026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、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Dx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ライブラリ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E7E54FE-58CF-3E2F-DC72-6B697C292FEE}"/>
              </a:ext>
            </a:extLst>
          </p:cNvPr>
          <p:cNvSpPr txBox="1"/>
          <p:nvPr/>
        </p:nvSpPr>
        <p:spPr>
          <a:xfrm>
            <a:off x="989309" y="3003629"/>
            <a:ext cx="3274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開発人数　：　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1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人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E5DE1A-1B73-81A8-5BC0-09562E564867}"/>
              </a:ext>
            </a:extLst>
          </p:cNvPr>
          <p:cNvSpPr txBox="1"/>
          <p:nvPr/>
        </p:nvSpPr>
        <p:spPr>
          <a:xfrm>
            <a:off x="989310" y="3465930"/>
            <a:ext cx="4044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担当箇所　：　プログラム全般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C0FBD39-1142-744F-4091-17834EFB5D96}"/>
              </a:ext>
            </a:extLst>
          </p:cNvPr>
          <p:cNvSpPr txBox="1"/>
          <p:nvPr/>
        </p:nvSpPr>
        <p:spPr>
          <a:xfrm>
            <a:off x="989310" y="3910647"/>
            <a:ext cx="3788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動作環境　：　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Windows</a:t>
            </a:r>
            <a:endParaRPr kumimoji="1" lang="ja-JP" altLang="en-US" sz="2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D3F618D-4078-AD7D-E3CA-4007D86BDF66}"/>
              </a:ext>
            </a:extLst>
          </p:cNvPr>
          <p:cNvSpPr txBox="1"/>
          <p:nvPr/>
        </p:nvSpPr>
        <p:spPr>
          <a:xfrm>
            <a:off x="989309" y="2550120"/>
            <a:ext cx="2996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使用言語　：　</a:t>
            </a:r>
            <a:r>
              <a:rPr kumimoji="1" lang="en-US" altLang="ja-JP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C++</a:t>
            </a:r>
            <a:endParaRPr kumimoji="1" lang="ja-JP" altLang="en-US" sz="2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1B135EC-4835-638B-FE4A-2040359BA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771" y="2550120"/>
            <a:ext cx="6570767" cy="368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8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2F41418-4F9C-CDA6-6C94-FB7D43F97054}"/>
              </a:ext>
            </a:extLst>
          </p:cNvPr>
          <p:cNvSpPr txBox="1"/>
          <p:nvPr/>
        </p:nvSpPr>
        <p:spPr>
          <a:xfrm>
            <a:off x="609600" y="502222"/>
            <a:ext cx="2992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highlight>
                  <a:srgbClr val="FFFF00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ゲーム概要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74AF24-0CB2-46EC-7B2E-EE4DF6C9CAF2}"/>
              </a:ext>
            </a:extLst>
          </p:cNvPr>
          <p:cNvSpPr txBox="1"/>
          <p:nvPr/>
        </p:nvSpPr>
        <p:spPr>
          <a:xfrm>
            <a:off x="1052081" y="1210108"/>
            <a:ext cx="10594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ユニットの目標選択、ユニットの生産、ユニット同士の戦闘など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A33E37B-40F6-D2FD-1467-BCCE1A64B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858" y="2496116"/>
            <a:ext cx="6691746" cy="377536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71854A0-5863-AB13-717F-9B5EBD31DF06}"/>
              </a:ext>
            </a:extLst>
          </p:cNvPr>
          <p:cNvSpPr txBox="1"/>
          <p:nvPr/>
        </p:nvSpPr>
        <p:spPr>
          <a:xfrm>
            <a:off x="4988295" y="4045246"/>
            <a:ext cx="42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824B9D-8195-3292-99BF-8C7680532C7D}"/>
              </a:ext>
            </a:extLst>
          </p:cNvPr>
          <p:cNvSpPr txBox="1"/>
          <p:nvPr/>
        </p:nvSpPr>
        <p:spPr>
          <a:xfrm>
            <a:off x="7539187" y="3309719"/>
            <a:ext cx="42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②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717992C-E6C0-C4FF-A4D5-145CE28D664B}"/>
              </a:ext>
            </a:extLst>
          </p:cNvPr>
          <p:cNvSpPr txBox="1"/>
          <p:nvPr/>
        </p:nvSpPr>
        <p:spPr>
          <a:xfrm>
            <a:off x="8121731" y="4272273"/>
            <a:ext cx="42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87A6F5-B96E-697B-BB82-2B23DEBE8197}"/>
              </a:ext>
            </a:extLst>
          </p:cNvPr>
          <p:cNvSpPr txBox="1"/>
          <p:nvPr/>
        </p:nvSpPr>
        <p:spPr>
          <a:xfrm>
            <a:off x="11153053" y="4311632"/>
            <a:ext cx="42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④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7B74076-ACF5-7933-AAFD-9B43581C1A98}"/>
              </a:ext>
            </a:extLst>
          </p:cNvPr>
          <p:cNvSpPr txBox="1"/>
          <p:nvPr/>
        </p:nvSpPr>
        <p:spPr>
          <a:xfrm>
            <a:off x="609600" y="2968406"/>
            <a:ext cx="4166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①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</a:t>
            </a:r>
            <a:r>
              <a:rPr kumimoji="1" lang="ja-JP" altLang="en-US" sz="2000" dirty="0">
                <a:solidFill>
                  <a:srgbClr val="0070C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自軍拠点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：破壊されると負け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2CED54D-8ECB-1F06-24D7-A0067955EEAA}"/>
              </a:ext>
            </a:extLst>
          </p:cNvPr>
          <p:cNvSpPr txBox="1"/>
          <p:nvPr/>
        </p:nvSpPr>
        <p:spPr>
          <a:xfrm>
            <a:off x="609600" y="3399104"/>
            <a:ext cx="2311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②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自軍ユニット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A9C9BA8-CA40-256F-05D5-8DFD561DD99F}"/>
              </a:ext>
            </a:extLst>
          </p:cNvPr>
          <p:cNvSpPr txBox="1"/>
          <p:nvPr/>
        </p:nvSpPr>
        <p:spPr>
          <a:xfrm>
            <a:off x="609600" y="3829802"/>
            <a:ext cx="2046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③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敵ユニット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8512703-5D47-A051-1165-3CD678B39DCD}"/>
              </a:ext>
            </a:extLst>
          </p:cNvPr>
          <p:cNvSpPr txBox="1"/>
          <p:nvPr/>
        </p:nvSpPr>
        <p:spPr>
          <a:xfrm>
            <a:off x="609600" y="4260500"/>
            <a:ext cx="3901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④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</a:t>
            </a:r>
            <a:r>
              <a:rPr kumimoji="1" lang="ja-JP" altLang="en-US" sz="20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敵軍拠点</a:t>
            </a:r>
            <a:r>
              <a:rPr kumimoji="1" lang="ja-JP" altLang="en-US" sz="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：破壊すると勝ち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4082CE-B77D-D208-B661-D55F9EA7A95F}"/>
              </a:ext>
            </a:extLst>
          </p:cNvPr>
          <p:cNvSpPr txBox="1"/>
          <p:nvPr/>
        </p:nvSpPr>
        <p:spPr>
          <a:xfrm>
            <a:off x="1632612" y="1831982"/>
            <a:ext cx="8773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基本的な要素のそろったターン制ストラテジーゲーム</a:t>
            </a:r>
          </a:p>
        </p:txBody>
      </p:sp>
    </p:spTree>
    <p:extLst>
      <p:ext uri="{BB962C8B-B14F-4D97-AF65-F5344CB8AC3E}">
        <p14:creationId xmlns:p14="http://schemas.microsoft.com/office/powerpoint/2010/main" val="19543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CFFDB4-5619-5DB7-9A61-B4D71FD4AA37}"/>
              </a:ext>
            </a:extLst>
          </p:cNvPr>
          <p:cNvSpPr txBox="1"/>
          <p:nvPr/>
        </p:nvSpPr>
        <p:spPr>
          <a:xfrm>
            <a:off x="470469" y="463781"/>
            <a:ext cx="5013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  <a:highlight>
                  <a:srgbClr val="FFFF00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A*</a:t>
            </a:r>
            <a:r>
              <a:rPr kumimoji="1" lang="ja-JP" altLang="en-US" sz="4000" b="1" dirty="0">
                <a:solidFill>
                  <a:schemeClr val="bg1"/>
                </a:solidFill>
                <a:highlight>
                  <a:srgbClr val="FFFF00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による経路探索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CDA47F9-6300-577D-CB4D-80407AA89AF6}"/>
              </a:ext>
            </a:extLst>
          </p:cNvPr>
          <p:cNvSpPr txBox="1"/>
          <p:nvPr/>
        </p:nvSpPr>
        <p:spPr>
          <a:xfrm>
            <a:off x="1188495" y="1214573"/>
            <a:ext cx="104822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ユニットごとにスタミナを設定し、</a:t>
            </a:r>
            <a:r>
              <a:rPr kumimoji="1" lang="en-US" altLang="ja-JP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1</a:t>
            </a:r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ターンに動ける距離に制限</a:t>
            </a:r>
            <a:endParaRPr kumimoji="1" lang="en-US" altLang="ja-JP" sz="28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それを踏まえ地形の移動コスト込みで</a:t>
            </a:r>
            <a:r>
              <a:rPr kumimoji="1" lang="en-US" altLang="ja-JP" sz="28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A*</a:t>
            </a:r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による経路探索</a:t>
            </a:r>
            <a:endParaRPr kumimoji="1" lang="en-US" altLang="ja-JP" sz="28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ユニットをクリックすることで、毎ターン</a:t>
            </a:r>
            <a:r>
              <a:rPr kumimoji="1" lang="ja-JP" altLang="en-US" sz="28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目的地を再設定可能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BC09CA0-EC7B-4D40-894B-15CB5CB04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849" y="3324488"/>
            <a:ext cx="5200097" cy="271202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EF70069-2217-95FA-861C-027F8F513FE8}"/>
              </a:ext>
            </a:extLst>
          </p:cNvPr>
          <p:cNvSpPr txBox="1"/>
          <p:nvPr/>
        </p:nvSpPr>
        <p:spPr>
          <a:xfrm>
            <a:off x="10078309" y="4894389"/>
            <a:ext cx="490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D4CC2B2-C505-D0CA-1CC2-2C847FDB381C}"/>
              </a:ext>
            </a:extLst>
          </p:cNvPr>
          <p:cNvSpPr txBox="1"/>
          <p:nvPr/>
        </p:nvSpPr>
        <p:spPr>
          <a:xfrm>
            <a:off x="6859743" y="3555220"/>
            <a:ext cx="490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②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ECB4C68-69BC-C021-5577-68DB4325B7DF}"/>
              </a:ext>
            </a:extLst>
          </p:cNvPr>
          <p:cNvSpPr txBox="1"/>
          <p:nvPr/>
        </p:nvSpPr>
        <p:spPr>
          <a:xfrm>
            <a:off x="10603761" y="5501837"/>
            <a:ext cx="490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②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62CD9CA-D896-C680-A49F-6C077DC8A49A}"/>
              </a:ext>
            </a:extLst>
          </p:cNvPr>
          <p:cNvSpPr txBox="1"/>
          <p:nvPr/>
        </p:nvSpPr>
        <p:spPr>
          <a:xfrm>
            <a:off x="8703310" y="4453499"/>
            <a:ext cx="490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③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F0E1503-B03E-7A51-A408-C858BFB46990}"/>
              </a:ext>
            </a:extLst>
          </p:cNvPr>
          <p:cNvSpPr/>
          <p:nvPr/>
        </p:nvSpPr>
        <p:spPr>
          <a:xfrm>
            <a:off x="9820895" y="4906403"/>
            <a:ext cx="1083908" cy="5156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74A515-C15A-866A-AA19-C47DF8C08153}"/>
              </a:ext>
            </a:extLst>
          </p:cNvPr>
          <p:cNvSpPr txBox="1"/>
          <p:nvPr/>
        </p:nvSpPr>
        <p:spPr>
          <a:xfrm>
            <a:off x="7553349" y="4923954"/>
            <a:ext cx="490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4338418-95DE-3A2F-50EA-C8705C47CA4F}"/>
              </a:ext>
            </a:extLst>
          </p:cNvPr>
          <p:cNvSpPr txBox="1"/>
          <p:nvPr/>
        </p:nvSpPr>
        <p:spPr>
          <a:xfrm>
            <a:off x="9688825" y="3753616"/>
            <a:ext cx="570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②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6966296-44D6-06FD-D9CC-B9A0D418EEC1}"/>
              </a:ext>
            </a:extLst>
          </p:cNvPr>
          <p:cNvSpPr/>
          <p:nvPr/>
        </p:nvSpPr>
        <p:spPr>
          <a:xfrm>
            <a:off x="9416099" y="3518114"/>
            <a:ext cx="994796" cy="10281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C532428-DA42-4228-D6DA-ED05A57A3829}"/>
              </a:ext>
            </a:extLst>
          </p:cNvPr>
          <p:cNvSpPr/>
          <p:nvPr/>
        </p:nvSpPr>
        <p:spPr>
          <a:xfrm>
            <a:off x="7314878" y="4675311"/>
            <a:ext cx="1083908" cy="10281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7C823DB-26D4-6656-6625-69B22293740C}"/>
              </a:ext>
            </a:extLst>
          </p:cNvPr>
          <p:cNvSpPr/>
          <p:nvPr/>
        </p:nvSpPr>
        <p:spPr>
          <a:xfrm>
            <a:off x="6594995" y="3449372"/>
            <a:ext cx="1318383" cy="7797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7443F26-CB59-58F8-2E3C-800E3C865463}"/>
              </a:ext>
            </a:extLst>
          </p:cNvPr>
          <p:cNvSpPr/>
          <p:nvPr/>
        </p:nvSpPr>
        <p:spPr>
          <a:xfrm>
            <a:off x="10354489" y="5511149"/>
            <a:ext cx="989431" cy="4379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9EF031E-9162-1B47-EAB7-672275E7E8BC}"/>
              </a:ext>
            </a:extLst>
          </p:cNvPr>
          <p:cNvSpPr/>
          <p:nvPr/>
        </p:nvSpPr>
        <p:spPr>
          <a:xfrm>
            <a:off x="8635855" y="4201029"/>
            <a:ext cx="676375" cy="10281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E04C1C7-79DF-5EC7-7C34-2C4653923246}"/>
              </a:ext>
            </a:extLst>
          </p:cNvPr>
          <p:cNvSpPr txBox="1"/>
          <p:nvPr/>
        </p:nvSpPr>
        <p:spPr>
          <a:xfrm>
            <a:off x="5901400" y="2688682"/>
            <a:ext cx="6081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▼地形に応じて消費コストが変わる</a:t>
            </a: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1DBF6595-D96E-EF47-8FC4-E61C20704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44" y="3324488"/>
            <a:ext cx="4905593" cy="2760818"/>
          </a:xfrm>
          <a:prstGeom prst="rect">
            <a:avLst/>
          </a:prstGeom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4D4EB61-4EA0-876F-4A8F-0861F6255109}"/>
              </a:ext>
            </a:extLst>
          </p:cNvPr>
          <p:cNvSpPr txBox="1"/>
          <p:nvPr/>
        </p:nvSpPr>
        <p:spPr>
          <a:xfrm>
            <a:off x="1470030" y="2701318"/>
            <a:ext cx="3861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▼</a:t>
            </a:r>
            <a:r>
              <a:rPr kumimoji="1" lang="en-US" altLang="ja-JP" sz="28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A*</a:t>
            </a:r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による経路探索</a:t>
            </a:r>
          </a:p>
        </p:txBody>
      </p:sp>
    </p:spTree>
    <p:extLst>
      <p:ext uri="{BB962C8B-B14F-4D97-AF65-F5344CB8AC3E}">
        <p14:creationId xmlns:p14="http://schemas.microsoft.com/office/powerpoint/2010/main" val="3497351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49A0DA9-09E5-F749-2212-7262A73217E5}"/>
              </a:ext>
            </a:extLst>
          </p:cNvPr>
          <p:cNvSpPr txBox="1"/>
          <p:nvPr/>
        </p:nvSpPr>
        <p:spPr>
          <a:xfrm>
            <a:off x="494145" y="697035"/>
            <a:ext cx="66843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highlight>
                  <a:srgbClr val="FFFF00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各ユニットの行動制御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9F5513-A6F2-12F9-2344-A065BD4440A0}"/>
              </a:ext>
            </a:extLst>
          </p:cNvPr>
          <p:cNvSpPr txBox="1"/>
          <p:nvPr/>
        </p:nvSpPr>
        <p:spPr>
          <a:xfrm>
            <a:off x="895927" y="1404922"/>
            <a:ext cx="1026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ステート</a:t>
            </a:r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による、敵味方全ユニットの状態管理</a:t>
            </a:r>
            <a:endParaRPr kumimoji="1" lang="en-US" altLang="ja-JP" sz="28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→常に</a:t>
            </a:r>
            <a:r>
              <a:rPr kumimoji="1" lang="en-US" altLang="ja-JP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5</a:t>
            </a:r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ついずれかの状態にあり、それに応じて</a:t>
            </a:r>
            <a:r>
              <a:rPr kumimoji="1" lang="ja-JP" altLang="en-US" sz="28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行動変化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0091002-6B89-951C-2909-3FF03C23797A}"/>
              </a:ext>
            </a:extLst>
          </p:cNvPr>
          <p:cNvSpPr txBox="1"/>
          <p:nvPr/>
        </p:nvSpPr>
        <p:spPr>
          <a:xfrm>
            <a:off x="2549235" y="2849528"/>
            <a:ext cx="7777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１ターンを３つのフェイズで管理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8D2DFAA-5913-9D25-CBEB-2B7C3A81C026}"/>
              </a:ext>
            </a:extLst>
          </p:cNvPr>
          <p:cNvSpPr/>
          <p:nvPr/>
        </p:nvSpPr>
        <p:spPr>
          <a:xfrm>
            <a:off x="895927" y="4103467"/>
            <a:ext cx="2831138" cy="1191491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Player Select Phase</a:t>
            </a:r>
            <a:endParaRPr kumimoji="1" lang="ja-JP" altLang="en-US" dirty="0">
              <a:solidFill>
                <a:schemeClr val="bg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A324762-F10A-3484-9197-B0719A3E2243}"/>
              </a:ext>
            </a:extLst>
          </p:cNvPr>
          <p:cNvSpPr/>
          <p:nvPr/>
        </p:nvSpPr>
        <p:spPr>
          <a:xfrm>
            <a:off x="4784436" y="4103467"/>
            <a:ext cx="2831138" cy="1191491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Select Result Phase</a:t>
            </a:r>
            <a:endParaRPr kumimoji="1" lang="ja-JP" altLang="en-US" dirty="0">
              <a:solidFill>
                <a:schemeClr val="bg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279B3E7-9494-13A5-4F3B-FABF3200B0BA}"/>
              </a:ext>
            </a:extLst>
          </p:cNvPr>
          <p:cNvSpPr/>
          <p:nvPr/>
        </p:nvSpPr>
        <p:spPr>
          <a:xfrm>
            <a:off x="8672944" y="4103466"/>
            <a:ext cx="2831138" cy="1191491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Enemy Phase</a:t>
            </a:r>
            <a:endParaRPr kumimoji="1" lang="ja-JP" altLang="en-US" dirty="0">
              <a:solidFill>
                <a:schemeClr val="bg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36634D4D-57B6-8398-7E88-E7EE03FE16ED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3727065" y="4699213"/>
            <a:ext cx="10573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174DA129-70B7-C763-8129-1E21B816D1FB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 flipV="1">
            <a:off x="7615574" y="4699212"/>
            <a:ext cx="105737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AB9E7A8-22B1-B45C-A4DC-23AB0F8E9D1B}"/>
              </a:ext>
            </a:extLst>
          </p:cNvPr>
          <p:cNvCxnSpPr>
            <a:cxnSpLocks/>
          </p:cNvCxnSpPr>
          <p:nvPr/>
        </p:nvCxnSpPr>
        <p:spPr>
          <a:xfrm flipV="1">
            <a:off x="2293962" y="3711077"/>
            <a:ext cx="7726384" cy="21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4331B174-843A-334B-7D4E-F061CAA0B549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10053443" y="3705197"/>
            <a:ext cx="35070" cy="3982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4A784DE4-A445-699C-49A8-C1FBBE532366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2311496" y="3705197"/>
            <a:ext cx="0" cy="3982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1158D99-6E08-389D-654E-149C40A6710E}"/>
              </a:ext>
            </a:extLst>
          </p:cNvPr>
          <p:cNvSpPr txBox="1"/>
          <p:nvPr/>
        </p:nvSpPr>
        <p:spPr>
          <a:xfrm>
            <a:off x="895927" y="5442740"/>
            <a:ext cx="2831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・ 目的地の設定</a:t>
            </a:r>
            <a:endParaRPr kumimoji="1" lang="en-US" altLang="ja-JP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kumimoji="1"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・ ユニットの生産</a:t>
            </a:r>
            <a:endParaRPr kumimoji="1" lang="en-US" altLang="ja-JP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kumimoji="1"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・ ユニット情報の確認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90E8DC8-4F72-D382-3EAC-660EC5A2C6A6}"/>
              </a:ext>
            </a:extLst>
          </p:cNvPr>
          <p:cNvSpPr txBox="1"/>
          <p:nvPr/>
        </p:nvSpPr>
        <p:spPr>
          <a:xfrm>
            <a:off x="4606636" y="5450733"/>
            <a:ext cx="3224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・ プレイヤーユニットの行動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14244C9-17A6-CEB1-84FE-F44593972A6C}"/>
              </a:ext>
            </a:extLst>
          </p:cNvPr>
          <p:cNvSpPr txBox="1"/>
          <p:nvPr/>
        </p:nvSpPr>
        <p:spPr>
          <a:xfrm>
            <a:off x="8594435" y="5442740"/>
            <a:ext cx="3224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・ エネミーユニットの行動</a:t>
            </a:r>
            <a:endParaRPr kumimoji="1" lang="en-US" altLang="ja-JP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kumimoji="1"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・ エネミーユニットの生産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A34ED58-BB48-41A6-A7C2-8798B509B310}"/>
              </a:ext>
            </a:extLst>
          </p:cNvPr>
          <p:cNvSpPr/>
          <p:nvPr/>
        </p:nvSpPr>
        <p:spPr>
          <a:xfrm>
            <a:off x="2443017" y="2773274"/>
            <a:ext cx="8013044" cy="812744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4616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F759AAE-B315-19AE-5F91-91EAB949A0C3}"/>
              </a:ext>
            </a:extLst>
          </p:cNvPr>
          <p:cNvSpPr txBox="1"/>
          <p:nvPr/>
        </p:nvSpPr>
        <p:spPr>
          <a:xfrm>
            <a:off x="226089" y="542899"/>
            <a:ext cx="85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solidFill>
                  <a:schemeClr val="bg1"/>
                </a:solidFill>
                <a:highlight>
                  <a:srgbClr val="FFFF00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同一グリッドに複数ユニットの併存禁止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B0A2A4-5E95-857E-6A28-33F030360204}"/>
              </a:ext>
            </a:extLst>
          </p:cNvPr>
          <p:cNvSpPr txBox="1"/>
          <p:nvPr/>
        </p:nvSpPr>
        <p:spPr>
          <a:xfrm>
            <a:off x="573028" y="1189230"/>
            <a:ext cx="10420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行動予約テーブルを作成し、次の移動先のグリッドを予約</a:t>
            </a:r>
            <a:endParaRPr kumimoji="1" lang="en-US" altLang="ja-JP" sz="28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それにより、同一グリッドに</a:t>
            </a:r>
            <a:r>
              <a:rPr kumimoji="1" lang="ja-JP" altLang="en-US" sz="28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複数部隊が存在する状態を禁止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67BB6B36-2A9A-4996-AD7F-708ABC88F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989" y="2280300"/>
            <a:ext cx="5198717" cy="3822578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B6313FE-F7E3-EA59-82D1-017C9D5B8421}"/>
              </a:ext>
            </a:extLst>
          </p:cNvPr>
          <p:cNvSpPr txBox="1"/>
          <p:nvPr/>
        </p:nvSpPr>
        <p:spPr>
          <a:xfrm>
            <a:off x="3892119" y="2789668"/>
            <a:ext cx="3449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highlight>
                  <a:srgbClr val="000080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予約済みグリッド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1862F066-8B7B-2EF7-010B-1D5BC06ED8D0}"/>
              </a:ext>
            </a:extLst>
          </p:cNvPr>
          <p:cNvSpPr/>
          <p:nvPr/>
        </p:nvSpPr>
        <p:spPr>
          <a:xfrm>
            <a:off x="5943386" y="3505854"/>
            <a:ext cx="305228" cy="302606"/>
          </a:xfrm>
          <a:prstGeom prst="downArrow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D5E46F4-3596-5ABF-1571-A7C2B32EB9AD}"/>
              </a:ext>
            </a:extLst>
          </p:cNvPr>
          <p:cNvSpPr txBox="1"/>
          <p:nvPr/>
        </p:nvSpPr>
        <p:spPr>
          <a:xfrm>
            <a:off x="286514" y="4839066"/>
            <a:ext cx="116189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highlight>
                  <a:srgbClr val="000080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移動先が予約済みグリッドならスタミナがあっても移動しない</a:t>
            </a:r>
          </a:p>
        </p:txBody>
      </p:sp>
      <p:sp>
        <p:nvSpPr>
          <p:cNvPr id="18" name="矢印: 上 17">
            <a:extLst>
              <a:ext uri="{FF2B5EF4-FFF2-40B4-BE49-F238E27FC236}">
                <a16:creationId xmlns:a16="http://schemas.microsoft.com/office/drawing/2014/main" id="{7EF5D673-E6F1-6FDD-1809-24A4D6DD209F}"/>
              </a:ext>
            </a:extLst>
          </p:cNvPr>
          <p:cNvSpPr/>
          <p:nvPr/>
        </p:nvSpPr>
        <p:spPr>
          <a:xfrm>
            <a:off x="4897667" y="4388066"/>
            <a:ext cx="356098" cy="295564"/>
          </a:xfrm>
          <a:prstGeom prst="upArrow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02713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93DCF258A1CA243AE512913DB34FB51" ma:contentTypeVersion="7" ma:contentTypeDescription="新しいドキュメントを作成します。" ma:contentTypeScope="" ma:versionID="a4076f287081e7def5eafb70be0764cc">
  <xsd:schema xmlns:xsd="http://www.w3.org/2001/XMLSchema" xmlns:xs="http://www.w3.org/2001/XMLSchema" xmlns:p="http://schemas.microsoft.com/office/2006/metadata/properties" xmlns:ns2="d8ff5d10-0b09-4094-8a63-feba21566180" targetNamespace="http://schemas.microsoft.com/office/2006/metadata/properties" ma:root="true" ma:fieldsID="46eb151ab07f5f37dba9666ea81d87ba" ns2:_="">
    <xsd:import namespace="d8ff5d10-0b09-4094-8a63-feba215661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ff5d10-0b09-4094-8a63-feba215661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E9C3B0-263C-471D-AF92-83CFB53EA9C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5DDACFC-3AB5-40B8-B0A5-7CB58BA7A9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8DA483-C471-4021-B918-E261542708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ff5d10-0b09-4094-8a63-feba215661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TM04033921[[fn=ダマスク]]</Template>
  <TotalTime>255</TotalTime>
  <Words>295</Words>
  <Application>Microsoft Office PowerPoint</Application>
  <PresentationFormat>ワイド画面</PresentationFormat>
  <Paragraphs>49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Noto Sans JP Black</vt:lpstr>
      <vt:lpstr>Arial</vt:lpstr>
      <vt:lpstr>Bookman Old Style</vt:lpstr>
      <vt:lpstr>Rockwell</vt:lpstr>
      <vt:lpstr>Damask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麻生　大翔</dc:creator>
  <cp:lastModifiedBy>麻生　大翔</cp:lastModifiedBy>
  <cp:revision>8</cp:revision>
  <dcterms:created xsi:type="dcterms:W3CDTF">2026-07-14T09:21:35Z</dcterms:created>
  <dcterms:modified xsi:type="dcterms:W3CDTF">2026-07-15T16:00:04Z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0x010100293DCF258A1CA243AE512913DB34FB51</vt:lpwstr>
  </property>
</Properties>
</file>